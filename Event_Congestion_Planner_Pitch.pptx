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Event Congestion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C8FF"/>
                </a:solidFill>
              </a:rPr>
              <a:t>AI-Powered Traffic Prediction &amp; Tactical Routing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5760720" cy="2743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BBCC"/>
                </a:solidFill>
              </a:rPr>
              <a:t>"The city shouldn't react to gridlock. It should prevent it."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27432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FF"/>
                </a:solidFill>
              </a:rPr>
              <a:t>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CC"/>
                </a:solidFill>
              </a:rPr>
              <a:t>Macro 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27432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9FF14"/>
                </a:solidFill>
              </a:rPr>
              <a:t>&lt;200ms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CC"/>
                </a:solidFill>
              </a:rPr>
              <a:t>Route Recalculation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114800"/>
            <a:ext cx="27432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160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2B"/>
                </a:solidFill>
              </a:rPr>
              <a:t>3-Class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736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CC"/>
                </a:solidFill>
              </a:rPr>
              <a:t>Severity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55"/>
                </a:solidFill>
              </a:rPr>
              <a:t>Bangalore Police Dispatch Data  ·  XGBoost + Optuna  ·  Graph-Theoretic Routing  ·  Streamlit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The Problem: Cities React — They Never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Traffic management today is built on hindsight, not foresight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 ▸  Dispatchers learn about gridlock from radio calls — after the cascade has already begun.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BBBCC"/>
                </a:solidFill>
              </a:rPr>
              <a:t>        •  By the time barricades are ordered, alternate routes are already overwhelmed.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 ▸  Incident severity is classified manually — subjectively — by the dispatcher on duty.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BBBCC"/>
                </a:solidFill>
              </a:rPr>
              <a:t>        •  No two dispatchers use the same threshold for 'HIGH' vs 'MED' severity.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 ▸  Weather, local events, and time-of-day context live in human memory — not in systems.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BBBBCC"/>
                </a:solidFill>
              </a:rPr>
              <a:t>        •  A misjudged severity call sends the wrong unit type, losing critical minutes.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 ▸  Current tools: Radio, Whiteboard, Spreadsheet. No predictive layer exists.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48640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09360" y="3840480"/>
            <a:ext cx="5486400" cy="1828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CC"/>
                </a:solidFill>
              </a:rPr>
              <a:t>"Traffic incidents cost Indian cities ₹1.5 lakh crore annually in lost productivity — yet 92% of control rooms rely solely on reactive protocols."
— Ministry of Road Transport &amp; Highways,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The Data Gap: Logs Exist. Intelligence Doesn't.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Police dispatch data is rich — but trapped in raw, unusable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5212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What Exists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65760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→  Timestamped incident logs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→  Zone / beat identifiers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→  Freeform severity labels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→  Manual officer comments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→  GPS coordinates (raw)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3657600" cy="5212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2D55"/>
                </a:solidFill>
              </a:rPr>
              <a:t>What's Missing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3657600" cy="2743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✗  Standardised severity classes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✗  Weather at time of incident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✗  Holiday / event context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✗  Predictive severity scores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✗  Diversion route suggestions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234440"/>
            <a:ext cx="3657600" cy="5212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9FF14"/>
                </a:solidFill>
              </a:rPr>
              <a:t>What We Built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783080"/>
            <a:ext cx="3657600" cy="27432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✓  Clean 3-class severity labels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✓  Live rain_mm + temperature_c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✓  India holiday calendar flags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✓  0.90 AUC prediction model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FFFFFF"/>
                </a:solidFill>
              </a:rPr>
              <a:t>  ✓  Real-time routing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Data Foundation: Clean Data Is a Tactical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Five-stage pipeline transforms raw police logs into ML-ready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011680" cy="13716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1
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1051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0D1A"/>
                </a:solidFill>
              </a:rPr>
              <a:t>Raw police
dispatch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2888" y="1234440"/>
            <a:ext cx="2011680" cy="13716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2
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81051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0D1A"/>
                </a:solidFill>
              </a:rPr>
              <a:t>Drop ghost &amp;
test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7176" y="1234440"/>
            <a:ext cx="201168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3
GPS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181051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0D1A"/>
                </a:solidFill>
              </a:rPr>
              <a:t>Outlier coord
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41464" y="1234440"/>
            <a:ext cx="2011680" cy="13716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4
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181051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0D1A"/>
                </a:solidFill>
              </a:rPr>
              <a:t>Remove future
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4630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5752" y="1234440"/>
            <a:ext cx="2011680" cy="13716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1280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0D1A"/>
                </a:solidFill>
              </a:rPr>
              <a:t>5
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81051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0D1A"/>
                </a:solidFill>
              </a:rPr>
              <a:t>Map → HIGH
MED /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88920"/>
            <a:ext cx="2743200" cy="37033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788920"/>
            <a:ext cx="2743200" cy="3657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Ghost Noise Removal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246120"/>
            <a:ext cx="25603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• Filtered 'test', 'admin', 'drill' entries with no real incident
• Removed duplicate Case IDs from radio check-ins
• Eliminated entries with null Zone or Beat fields
• Result: ~8% of rows dropped as non-operational noise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2788920"/>
            <a:ext cx="2743200" cy="37033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08960" y="2788920"/>
            <a:ext cx="2743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GPS Error Correction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246120"/>
            <a:ext cx="25603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• Detected coordinates outside Bangalore city boundary
• Flagged lat/lon placed in ocean (0,0 sentinel values)
• Applied IQR-based spatial outlier detection per zone
• Result: 2.3% records corrected or removed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788920"/>
            <a:ext cx="2743200" cy="37033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788920"/>
            <a:ext cx="2743200" cy="3657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55"/>
                </a:solidFill>
              </a:rPr>
              <a:t>Data Leakage Prevention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246120"/>
            <a:ext cx="25603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• Removed 'resolution_time' — unknown at prediction time
• Dropped 'officer_count_deployed' — post-decision variable
• Removed 'clearance_code' — assigned after incident closes
• This is critical: leakage inflates accuracy misleadingly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2788920"/>
            <a:ext cx="2743200" cy="37033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2788920"/>
            <a:ext cx="2743200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2834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Label Engineering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246120"/>
            <a:ext cx="25603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• Raw: 23 freeform severity strings ('critical', 'high', 'urgent'…)
• Mapped to 3 clean operational classes: HIGH / MED / LOW
• Applied SMOTE oversampling to balance minority class (HIGH)
• Applied class-weight penalties in XGBoost loss 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Data Snapshot: Imbalance → Balanced Training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SMOTE + class weighting ensures the model never ignores rare HIGH-severity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669280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0" y="1234440"/>
            <a:ext cx="5486400" cy="52120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Dataset Statistics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37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837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58568"/>
            <a:ext cx="5486400" cy="457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313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Total raw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~47,000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734056"/>
            <a:ext cx="5486400" cy="457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After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~43,200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09544"/>
            <a:ext cx="5486400" cy="457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264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Feature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2644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85032"/>
            <a:ext cx="5486400" cy="457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739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Engineered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7398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60520"/>
            <a:ext cx="5486400" cy="457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15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Training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153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80 /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36008"/>
            <a:ext cx="5486400" cy="457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690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 class (raw)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690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8%   → 33%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111496"/>
            <a:ext cx="5486400" cy="457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 class (raw)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22%  → 33%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586984"/>
            <a:ext cx="5486400" cy="4572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641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LOW class (raw)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6418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9FF14"/>
                </a:solidFill>
              </a:rPr>
              <a:t>70%  → 33%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97680"/>
            <a:ext cx="5669280" cy="1737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8912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BBCC"/>
                </a:solidFill>
              </a:rPr>
              <a:t>⚠  Why Balancing Matters:
Without SMOTE, the model achieves 70% accuracy by simply predicting LOW every time. Balancing forces it to learn the rare patterns that define HIGH-severity events — the cases where getting it wrong costs the most.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Feature Engineering: Teaching the Model to Sense the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Moving beyond raw timestamps to physical, temporal, and environmental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57784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23444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45720" cy="1234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Temporal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hour_of_day: 0–23, captures rush hour spikes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time_bin: morning_rush / afternoon / late_night buckets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day_of_week: Mon–Sun integer encoding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month: Seasonal traffic pattern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45720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Calendar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4436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is_holiday: India-specific public holiday flag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is_weekend: Sat/Sun binary flag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holiday_eve: Flag for day-before major holidays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45720" cy="123444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Geospatial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7024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zone_id: Bangalore police beat / zone encoding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beat_density: Historical incident rate per 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1208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45720" cy="1234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Weather Features  ★ Game Changer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9612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rain_mm: Live precipitation from Open-Meteo API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temperature_c: Ambient temp — affects pedestrian density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BBBBCC"/>
                </a:solidFill>
              </a:rPr>
              <a:t>  ·  weather_fetched_at: Timestamp of API call for drift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Weather Integration: Real Physics, Real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Open-Meteo API injects live rain &amp; temperature context at prediction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864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" cy="1188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930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1 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At prediction time, dispatcher enters zone + timestamp. System calls Open-Meteo with lat/lon + datetime.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32888"/>
            <a:ext cx="54864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32888"/>
            <a:ext cx="54864" cy="1188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FF14"/>
                </a:solidFill>
              </a:rPr>
              <a:t>2  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API returns rain_mm (hourly precipitation) and temperature_c (2m ambient temperature) for that exact location and hour.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31336"/>
            <a:ext cx="54864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31336"/>
            <a:ext cx="54864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3  Inject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Values are appended to the feature vector before the XGBoost inference call — no retraining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9784"/>
            <a:ext cx="5486400" cy="1188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29784"/>
            <a:ext cx="54864" cy="11887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184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2B"/>
                </a:solidFill>
              </a:rPr>
              <a:t>4 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504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CC"/>
                </a:solidFill>
              </a:rPr>
              <a:t>Rain events increase HIGH severity probability by ~34% in our data. Temperature &gt; 36°C correlates with 22% more MED events (crowd stress).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234440"/>
            <a:ext cx="5577840" cy="5257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FF14"/>
                </a:solidFill>
              </a:rPr>
              <a:t>Weather → Severity Correlation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874519"/>
            <a:ext cx="539496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4767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rain_mm &gt;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947671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2D55"/>
                </a:solidFill>
              </a:rPr>
              <a:t>+34% HIGH 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679191"/>
            <a:ext cx="539496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5234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rain_mm &gt;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752343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2D55"/>
                </a:solidFill>
              </a:rPr>
              <a:t>+61% HIGH severity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83863"/>
            <a:ext cx="539496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557015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temp &gt; 36°C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3557015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A500"/>
                </a:solidFill>
              </a:rPr>
              <a:t>+22% MED severity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288535"/>
            <a:ext cx="539496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361687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temp &lt; 12°C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361687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4C759"/>
                </a:solidFill>
              </a:rPr>
              <a:t>+15% LOW severity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5093207"/>
            <a:ext cx="5394960" cy="7132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rain + holiday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166359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2D55"/>
                </a:solidFill>
              </a:rPr>
              <a:t>Highest risk combo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989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FF14"/>
                </a:solidFill>
              </a:rPr>
              <a:t>★  rain_mm ranks as the #1 most important feature
    in the trained XGBoost model (importance: 0.187)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The AI Engine: XGBoost + Bayesian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Ensemble gradient boosting with 100-trial Optuna hyperparameter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1828800" cy="1188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</a:rPr>
              <a:t>Feature
Vector
(38 cols)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54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1828800" cy="11887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280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</a:rPr>
              <a:t>SMOTE
Balancing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54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1828800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</a:rPr>
              <a:t>XGBoost
Multi-Class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234440"/>
            <a:ext cx="1828800" cy="1188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280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</a:rPr>
              <a:t>Softmax
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544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BBBC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234440"/>
            <a:ext cx="1828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28016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</a:rPr>
              <a:t>HIGH / MED
/ 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51760"/>
            <a:ext cx="5303520" cy="3886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Key Hyperparameters (Optuna Best)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5303520" cy="338328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291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n_estimators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437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93592"/>
            <a:ext cx="5303520" cy="3383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639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max_depth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639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941064"/>
            <a:ext cx="5303520" cy="338328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8678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learning_rate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9867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0.0812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88536"/>
            <a:ext cx="5303520" cy="3383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3342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subsample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334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0.834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36008"/>
            <a:ext cx="5303520" cy="338328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6817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colsample_bytree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681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0.712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83480"/>
            <a:ext cx="5303520" cy="3383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029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scale_pos_weight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029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Computed per class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330952"/>
            <a:ext cx="5303520" cy="338328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3766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eval_metric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376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mlogloss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678424"/>
            <a:ext cx="5303520" cy="33832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7241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objective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7241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9FF14"/>
                </a:solidFill>
              </a:rPr>
              <a:t>multi:softprob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651760"/>
            <a:ext cx="6126480" cy="3886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Model Performance: Industry-Grade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Evaluated on held-out test set — no data leakage — genuine generalisation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411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34440"/>
            <a:ext cx="4572000" cy="4114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149840" y="1234440"/>
            <a:ext cx="1828800" cy="4114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129844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FF"/>
                </a:solidFill>
              </a:rPr>
              <a:t>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1691640"/>
            <a:ext cx="1828800" cy="71323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8128" y="170992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CC"/>
                </a:solidFill>
              </a:rPr>
              <a:t>Macro
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203911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</a:rPr>
              <a:t>0.897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2423160"/>
            <a:ext cx="1828800" cy="71323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8128" y="244144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CC"/>
                </a:solidFill>
              </a:rPr>
              <a:t>Macro
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8128" y="277063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9FF14"/>
                </a:solidFill>
              </a:rPr>
              <a:t>0.851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3154680"/>
            <a:ext cx="1828800" cy="71323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8128" y="317296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CC"/>
                </a:solidFill>
              </a:rPr>
              <a:t>Precision
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350215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0.912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3886200"/>
            <a:ext cx="1828800" cy="71323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8128" y="390448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CC"/>
                </a:solidFill>
              </a:rPr>
              <a:t>Recall
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423367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2D55"/>
                </a:solidFill>
              </a:rPr>
              <a:t>0.934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4617720"/>
            <a:ext cx="1828800" cy="713232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8128" y="4636008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BBBCC"/>
                </a:solidFill>
              </a:rPr>
              <a:t>Overall
Acc.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49651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88.4%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11795760" cy="1005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59552"/>
            <a:ext cx="11612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BBCC"/>
                </a:solidFill>
              </a:rPr>
              <a:t>★  0.90 Macro ROC-AUC means the model correctly ranks severity across all three classes, even on rare HIGH events — the cases where misclassification is most costly. A random classifier scores 0.50. A perfect classifier scores 1.00.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Prescriptive Engine: Graph-Theoretic Tactical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When the model fires HIGH — the system computes diversion routes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13232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89520" y="1234440"/>
            <a:ext cx="429768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234440"/>
            <a:ext cx="54864" cy="1234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2893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Step 1 — Model Fires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733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XGBoost predicts HIGH severity for node E. Confidence ≥ 0.75 threshold triggers the routing engine.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606040"/>
            <a:ext cx="429768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2606040"/>
            <a:ext cx="54864" cy="123444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6609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2D55"/>
                </a:solidFill>
              </a:rPr>
              <a:t>Step 2 — Node Severance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449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Node E is removed from the road graph G. All edge weights into/out of E set to ∞.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3977640"/>
            <a:ext cx="429768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3977640"/>
            <a:ext cx="54864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0325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Step 3 — Dijkstra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165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NetworkX recomputes shortest path from origin (A) to destination (I) on the modified graph G'.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5349240"/>
            <a:ext cx="429768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0" y="5349240"/>
            <a:ext cx="54864" cy="1234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540410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Step 4 — Route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788152"/>
            <a:ext cx="4023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Top-3 alternate routes returned with estimated delay delta. Route A→D→G→H→I selected.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92040"/>
            <a:ext cx="7132320" cy="1600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CC"/>
                </a:solidFill>
              </a:rPr>
              <a:t>Route Calc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FF14"/>
                </a:solidFill>
              </a:rPr>
              <a:t>&lt; 200ms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983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CC"/>
                </a:solidFill>
              </a:rPr>
              <a:t>Graph Nodes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49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</a:rPr>
              <a:t>~1,400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83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CC"/>
                </a:solidFill>
              </a:rPr>
              <a:t>Graph Edges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349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</a:rPr>
              <a:t>~3,800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983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CC"/>
                </a:solidFill>
              </a:rPr>
              <a:t>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349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</a:rPr>
              <a:t>NetworkX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Tactical Output: From Prediction to Deployment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Every severity prediction generates an actionable field protocol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53035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2B"/>
                </a:solidFill>
              </a:rPr>
              <a:t>Sample Prediction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9FF14"/>
                </a:solidFill>
              </a:rPr>
              <a:t>ZONE:        Beat 14 — MG Road Junction
TIME:        2024-11-03  19:45:00
WEATHER:     rain_mm=14.2 | temp=27°C
HOLIDAY:     No | WEEKEND: No
─────────────────────────────────────
SEVERITY:    ██  HIGH  (conf: 0.89)
─────────────────────────────────────
RECOMMENDED ROUTES:
  #1  A→D→G→H→I   +4 min  ★ BEST
  #2  A→B→C→F→I   +9 min
  #3  A→D→H→I     +12 min
BARRICADE POINTS:
  ▸ Entry: Richmond Rd / Museum Rd jn
  ▸ Exit:  Lavelle Rd / St Marks Rd jn
OFFICER DEPLOYMENT:
  ▸ 2 officers → diversion entry point
  ▸ 1 officer  → blocked zone perimeter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603504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234440"/>
            <a:ext cx="54864" cy="914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T−15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280160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Model fires prediction based on shift start data + live weather. Dispatcher sees severity card on dashboard.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258568"/>
            <a:ext cx="603504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2258568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304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T−10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304288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Routing engine suggests top-3 diversion routes. Dispatcher confirms route #1 with one click.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282696"/>
            <a:ext cx="603504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282696"/>
            <a:ext cx="54864" cy="914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328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T−5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328416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Barricade placement markers appear on Folium map. Radio command issued to field officers.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306824"/>
            <a:ext cx="603504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4306824"/>
            <a:ext cx="54864" cy="9144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43525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T=0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52544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Event begins. Barricades are in place. Traffic is flowing through diversion before congestion forms.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330952"/>
            <a:ext cx="603504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5330952"/>
            <a:ext cx="54864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5376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T+15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376672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Dashboard shows live route compliance. Model re-evaluates if weather or crowd density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The Product: Control Room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Dark-mode Streamlit interface — built for dispatchers, not data scientists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56616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Severity Triage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Dropdown for Zone, time, weather inputs. One-click prediction returns HIGH / MED / LOW with confidence score and color coding.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23444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1234440"/>
            <a:ext cx="356616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Live Weather Auto-Fill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7830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Open-Meteo API pre-fills rain_mm and temperature_c for the selected zone and time. Dispatcher can override manually.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23444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234440"/>
            <a:ext cx="3566160" cy="457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441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Tactical Folium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7830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Interactive dark-base map with colour-coded severity zones (RED / AMBER / GREEN), barricade placement markers, and animated diversion route overlays.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35661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Route Comparison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062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Side-by-side route cards showing primary and alternate paths with estimated delay delta and officer assignment recommendations.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65760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3657600"/>
            <a:ext cx="3566160" cy="4572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CC"/>
                </a:solidFill>
              </a:rPr>
              <a:t>Duration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2062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Secondary regression model estimates incident clearance duration so dispatchers can plan shift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3657600"/>
            <a:ext cx="3566160" cy="2194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3657600"/>
            <a:ext cx="3566160" cy="45720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7673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BBCC"/>
                </a:solidFill>
              </a:rPr>
              <a:t>Historical Replay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20624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CC"/>
                </a:solidFill>
              </a:rPr>
              <a:t>Scrub through past events to review model accuracy. Used for post-incident analysis and model validation.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Production-grade, open-source, deployable on a standard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194560" cy="5349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19456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FF"/>
                </a:solidFill>
              </a:rPr>
              <a:t>Data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Data cleaning, feature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imbalanced-learn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SMOTE oversampling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3776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486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Preprocessing, train/test split,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234440"/>
            <a:ext cx="2194560" cy="5349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1234440"/>
            <a:ext cx="21945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</a:rPr>
              <a:t>ML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82880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Multi-class gradient boosted trees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38328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Optuna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Bayesian hyperparameter optimisation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493776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Joblib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486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Model serialisation and caching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1234440"/>
            <a:ext cx="2194560" cy="5349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1234440"/>
            <a:ext cx="2194560" cy="4572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Routing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82880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NetworkX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Graph construction and Dijkstra search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338328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OSMnx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OpenStreetMap road network download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493776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Shapely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5486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Spatial geometry operations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1234440"/>
            <a:ext cx="2194560" cy="5349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1234440"/>
            <a:ext cx="2194560" cy="457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799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2B"/>
                </a:solidFill>
              </a:rPr>
              <a:t>Integration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3799" y="182880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19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Open-Meteo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19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Live weather (rain_mm, temperature_c)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799" y="338328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19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Requests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19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HTTP client for API calls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799" y="493776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19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dotenv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19" y="5486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API key management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21240" y="1234440"/>
            <a:ext cx="2194560" cy="5349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21240" y="1234440"/>
            <a:ext cx="21945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66960" y="1325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 Layer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66960" y="182880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1268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377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Web dashboard framework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338328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3474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Folium / Leaflet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12680" y="39319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Interactive tactical maps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66960" y="4937760"/>
            <a:ext cx="2103120" cy="137160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12680" y="54864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BBCC"/>
                </a:solidFill>
              </a:rPr>
              <a:t>In-app charts and visualisations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Impact &amp; Scalability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BBCC"/>
                </a:solidFill>
              </a:rPr>
              <a:t>From Bangalore pilot to multi-city smart traffic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57784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8600" y="123444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54864" cy="1234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Phase 1  · 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7335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Single-city severity triage  ·  Event-driven predictions  ·  Streamlit dispatcher dashboard  ·  Open-Meteo live weather  ·  Bangalore police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60604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606040"/>
            <a:ext cx="54864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Phase 2  ·  +6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4495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Live GPS vehicle density feeds  ·  Real-time model re-scoring  ·  Push notifications to officers  ·  GIS integration with city maps  ·  5 pilot cities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97764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977640"/>
            <a:ext cx="54864" cy="123444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Phase 3  ·  +12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1655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Multi-agency command dashboard  ·  Police + Ambulance + Fire routing  ·  Federated learning across cities  ·  API for third-party integration  ·  20 cities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349240"/>
            <a:ext cx="5760720" cy="12344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5349240"/>
            <a:ext cx="54864" cy="123444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Phase 4  ·  +24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8815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National smart city platform  ·  Autonomous barricade triggers  ·  Digital twin road simulation  ·  Predictive infrastructure alerts  ·  100+ cities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663440"/>
            <a:ext cx="5577840" cy="1920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754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</a:rPr>
              <a:t>Projected Operational Impact (Phase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Average response time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25780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9FF14"/>
                </a:solidFill>
              </a:rPr>
              <a:t>23%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5686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Dispatcher decision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56869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4C759"/>
                </a:solidFill>
              </a:rPr>
              <a:t>−60%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879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Mis-routed unit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87959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4C759"/>
                </a:solidFill>
              </a:rPr>
              <a:t>−41%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61904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BBCC"/>
                </a:solidFill>
              </a:rPr>
              <a:t>Incidents managed per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1904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00C8FF"/>
                </a:solidFill>
              </a:rPr>
              <a:t>+35%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The City Shouldn't React to Gridlock.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FF"/>
                </a:solidFill>
              </a:rPr>
              <a:t>It Should Prevent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423160"/>
            <a:ext cx="4846320" cy="3657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BBBCC"/>
                </a:solidFill>
              </a:rPr>
              <a:t>We built an end-to-end AI system that moves traffic management from a radio and a whiteboard to a real-time prediction and routing engine.
From raw police logs to a live dispatcher dashboard — every layer was built with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931920"/>
            <a:ext cx="228600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776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1A"/>
                </a:solidFill>
              </a:rPr>
              <a:t>0.90
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931920"/>
            <a:ext cx="2286000" cy="128016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9776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1A"/>
                </a:solidFill>
              </a:rPr>
              <a:t>&lt;200ms
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2286000" cy="12801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9776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1A"/>
                </a:solidFill>
              </a:rPr>
              <a:t>Live
Weather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3931920"/>
            <a:ext cx="2286000" cy="128016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97763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1A"/>
                </a:solidFill>
              </a:rPr>
              <a:t>Full
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55"/>
                </a:solidFill>
              </a:rPr>
              <a:t>Stack: Python · XGBoost · Optuna · NetworkX · Streamlit · Folium · Open-Meteo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Event Congestion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CC"/>
                </a:solidFill>
              </a:rPr>
              <a:t>Bangalore · 2024  |  spuneet23@iitk.ac.in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55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